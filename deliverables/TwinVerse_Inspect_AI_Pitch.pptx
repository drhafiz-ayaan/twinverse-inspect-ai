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mAP50 (standard metric)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8EE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Model A</c:v>
                  </c:pt>
                  <c:pt idx="1">
                    <c:v>Model B</c:v>
                  </c:pt>
                  <c:pt idx="2">
                    <c:v>Model 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0.442</c:v>
                </c:pt>
                <c:pt idx="1">
                  <c:v>0.373</c:v>
                </c:pt>
                <c:pt idx="2">
                  <c:v>0.436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Separation (does it actually work)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8EE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Model A</c:v>
                  </c:pt>
                  <c:pt idx="1">
                    <c:v>Model B</c:v>
                  </c:pt>
                  <c:pt idx="2">
                    <c:v>Model C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0.258</c:v>
                </c:pt>
                <c:pt idx="1">
                  <c:v>0</c:v>
                </c:pt>
                <c:pt idx="2">
                  <c:v>0.611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E8EEF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FB0C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</c:scaling>
        <c:delete val="0"/>
        <c:axPos val="l"/>
        <c:majorGridlines>
          <c:spPr>
            <a:ln w="12700" cap="flat">
              <a:solidFill>
                <a:srgbClr val="1E2B4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B1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9FB0CC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70B1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Cracks found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8EE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D3E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crack-b</c:v>
                  </c:pt>
                  <c:pt idx="1">
                    <c:v>crack-bphdr</c:v>
                  </c:pt>
                  <c:pt idx="2">
                    <c:v>nitw-crack</c:v>
                  </c:pt>
                  <c:pt idx="3">
                    <c:v>bridge-defect
(unseen)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0.982</c:v>
                </c:pt>
                <c:pt idx="2">
                  <c:v>0.838</c:v>
                </c:pt>
                <c:pt idx="3">
                  <c:v>0.558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E8EEF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FB0C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0"/>
        <c:axPos val="l"/>
        <c:majorGridlines>
          <c:spPr>
            <a:ln w="12700" cap="flat">
              <a:solidFill>
                <a:srgbClr val="1E2B4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B14"/>
        </a:solidFill>
        <a:ln>
          <a:noFill/>
        </a:ln>
        <a:effectLst/>
      </c:spPr>
    </c:plotArea>
    <c:plotVisOnly val="1"/>
    <c:dispBlanksAs val="span"/>
  </c:chart>
  <c:spPr>
    <a:solidFill>
      <a:srgbClr val="070B1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problem, not the product. 'Inspectors climb bridges, rappel down dams, and walk pipelines with clipboards.' Then introduce the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to 30 seconds. The audience already believes the problem — do not over-sell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elevator pitch slide. If you only get one slide, use this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live demo after this slide if the room is going well.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Most teams show a number. We show where the number came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judge asks one technical question, it will probably be about evaluation. This slide is the answer. Then turn the page — the next slide is the one they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this confidently. Most teams quote the number from their own test split and have never run this experiment. Volunteering the weaker figure, with the dataset named, is what separates a measured system from a demo. If asked why it drops: the training set is one collection of concrete from one campus. More varied data is the fix, not a threshold.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Orbit the viewer live if the demo is working. Then immediately state what it is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skip this slide to save time. It is the one that separates us. Deliver it confidently, not apologetically.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note: the S3 layer means MinIO swaps for Alibaba OSS or AWS S3 with a config change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circles with headshots and fill in each member's focus area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'later' column is deliberately labelled later, not coming soon.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on the sentence, pause, then invite questions. Do not add a summary slide after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3108960"/>
            <a:ext cx="9144000" cy="9144000"/>
          </a:xfrm>
          <a:prstGeom prst="ellipse">
            <a:avLst/>
          </a:prstGeom>
          <a:solidFill>
            <a:srgbClr val="6366F1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2286000"/>
            <a:ext cx="8229600" cy="8229600"/>
          </a:xfrm>
          <a:prstGeom prst="ellipse">
            <a:avLst/>
          </a:prstGeom>
          <a:solidFill>
            <a:srgbClr val="22D3EE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8745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STRUCTURAL SCREENING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860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TwinVerse Inspect AI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1012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unreachable.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95020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Drone, CCTV and handheld imagery in — located defects, ranked severity, and a shareable report out.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5047488"/>
            <a:ext cx="100584" cy="100584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86968" y="4937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Ayaan Aatif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86968" y="51937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886200" y="5047488"/>
            <a:ext cx="100584" cy="100584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087368" y="4937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Muneed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087368" y="51937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086600" y="5047488"/>
            <a:ext cx="100584" cy="10058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287768" y="4937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Inshrah Mehmood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287768" y="51937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0533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Event / Track ]   ·   [ Date ]   ·   Bano Qabil · Alkhidmat Foundation Pakistan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today is manual, slow,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genuinely dangerous.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85800" y="2487168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78408" y="2798064"/>
            <a:ext cx="146304" cy="146304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52728" y="268833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52728" y="3035808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rappel down dams and climb bridge soffits to look at concrete with their own eyes.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487168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0528" y="2798064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84848" y="268833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784848" y="3035808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span can take days to survey. Backlogs mean structures go years between inspections.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059936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78408" y="4370832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52728" y="42611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52728" y="4608576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inspectors, two clipboards, two different answers about the same crack.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4059936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10528" y="4370832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84848" y="42611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784848" y="4608576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Defects are found after they matter, not before. Maintenance is repair, not prevention.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pass that never has to climb anything.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4183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94183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Drone, CCTV, robot or a phone. Images or video.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300984" y="3310128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47472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73075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73075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3075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fine-tuned YOLOv11 model locates cracks and draws a box around each one.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89904" y="3310128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6364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1967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51967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detection gets a severity score from a formula shown on screen.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878824" y="3310128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05256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30859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30859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930859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images, a 3D view, and a PDF anyone can forward.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257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 still decides. The system removes the part of the job that is climbing, photographing, and sorting.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mockup. A running system.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4183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73075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73075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6364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51967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6.1s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analyse 8 images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5256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30859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7ms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930859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per image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931920"/>
            <a:ext cx="10789920" cy="1965960"/>
          </a:xfrm>
          <a:prstGeom prst="roundRect">
            <a:avLst>
              <a:gd name="adj" fmla="val 5581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051560" y="4242816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71016" y="41605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API with S3-compatible object storage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09360" y="4242816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28816" y="41605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crack detector, trained on 1,317 images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51560" y="4754880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271016" y="4672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engine with a formula served live to the UI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09360" y="4754880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28816" y="4672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dashboard with 3D digital twin viewer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51560" y="52669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271016" y="51846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reports with a limitations page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52669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28816" y="51846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auth, three roles, Docker Compose, CI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can be recomputed by hand.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40280"/>
            <a:ext cx="649224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51560" y="25146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  =  area  ×  confidence  ×  class weight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12724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detection from the demo data: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456432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0.0288  ×  0.558  ×  1.0  =  0.01606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39776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formula, the weights and the band thresholds are served by the API and rendered live — so what the dashboard shows can never drift from what the server computed.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498080" y="2240280"/>
            <a:ext cx="397764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818120" y="2468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BANDS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818120" y="2944368"/>
            <a:ext cx="128016" cy="128016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55864" y="285292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9464040" y="28529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0.014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18120" y="3511296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55864" y="3419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464040" y="34198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0.011 – 0.014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18120" y="4078224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55864" y="398678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9464040" y="39867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0.009 – 0.011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818120" y="4645152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55864" y="45537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464040" y="45537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0.009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818120" y="5120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against 308 real detections, not assumed.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MEASUREMENT THAT MATTERED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metric said all three models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 the same. They were not.</a:t>
            </a:r>
            <a:endParaRPr lang="en-US" sz="3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85800" y="2395728"/>
          <a:ext cx="65836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589520" y="2395728"/>
            <a:ext cx="3886200" cy="3063240"/>
          </a:xfrm>
          <a:prstGeom prst="roundRect">
            <a:avLst>
              <a:gd name="adj" fmla="val 3582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909560" y="26060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2999232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is computed only over defects that are labelled. A validation set with no clean images cannot catch a model that fires on everything.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tested each model against 94 defect-free photographs.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looked fine and flagged half of all clean concrete. Model C flags one in five.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 asked the harder question: does it hold up on imagery from somewhere else?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TRADE-OFF MOST TEAMS NEVER PRICE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picked the threshold by simulating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inspection, not by tuning a metric.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21408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missed crack is found at the next survey, or when something fails. A false alarm costs an engineer thirty seconds. So we stopped optimising a metric that treats them as equal, simulated 500-photograph surveys, and chose the threshold from a recall target.</a:t>
            </a:r>
            <a:endParaRPr lang="en-US" sz="13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3017520"/>
          <a:ext cx="65836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589520" y="3017520"/>
            <a:ext cx="3886200" cy="2514600"/>
          </a:xfrm>
          <a:prstGeom prst="roundRect">
            <a:avLst>
              <a:gd name="adj" fmla="val 4364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909560" y="32186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361188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across four datasets: 84% of cracks found. The previous model could not reach 80% on crack-b at any threshold — its best was 35%.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is that we flag 60% of photographs for review. A manual survey means looking at all of them, after climbing the structure.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is a safety decision. Review time is a budget. We priced both.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photograph to a structure you can orbit.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525780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51560" y="25420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image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51560" y="307238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271016" y="29992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boxes drawn over each detection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51560" y="357530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71016" y="35021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and size both carry severity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051560" y="407822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271016" y="40050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a finding to see its arithmetic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051560" y="458114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71016" y="45079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 stored normalised, so they align at any zoom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2286000"/>
            <a:ext cx="521208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629400" y="25420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v1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629400" y="307238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48856" y="29992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3D structure with glowing severity markers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629400" y="357530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48856" y="35021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marker for its source image and score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629400" y="407822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48856" y="40050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code — no scanning rig required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629400" y="458114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48856" y="45079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placement, and we say so on screen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57150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Replace this line with a screenshot of the dashboard and the 3D viewer ]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DO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measured the weaknesses too.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83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stated in the product itself and on the last page of every report.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239572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23544" y="2514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Cracks only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23544" y="280720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defect class. It has never seen corrosion or spalling and will not report them.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70832" y="239572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08576" y="2514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flag 60% of photographs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280720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Deliberate. Recall is the safety metric; review time is the cost. The threshold is a slider.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55864" y="239572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93608" y="2514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on the one unseen source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93608" y="280720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Versus 84-100% on the three in training. Only bridge-defect is wholly unseen, and we say so.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5800" y="367588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3544" y="3794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is relative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23544" y="408736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ranks which crack to look at first. It does not measure width in millimetres.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70832" y="367588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608576" y="3794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3D view is illustrative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608576" y="408736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 positions come from capture order, not surveyed coordinates.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55864" y="367588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293608" y="3794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counts are inflated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293608" y="408736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are analysed independently, so one crack can be counted many times.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" y="495604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3544" y="50749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engineering assessment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23544" y="536752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screening pass. A qualified engineer still signs off.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a weakness costs far less than being caught by it.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Boring technology, deliberately.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40280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2468880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3444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238658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· React 19 · Three.js · Tailwind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2953512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60120" y="3182112"/>
            <a:ext cx="128016" cy="12801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34440" y="30906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309981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Python 3.12 · SQLAlchemy · Alembic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3666744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3895344"/>
            <a:ext cx="128016" cy="12801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34440" y="380390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2697480" y="381304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YOLOv11n fine-tuned · PyTorch 2.13 · CUDA 13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85800" y="4379976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60120" y="4608576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34440" y="451713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2697480" y="452628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· MinIO (S3-compatible)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5800" y="5093208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60120" y="532180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234440" y="523036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2697480" y="523951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· GitHub Actions CI · JWT + RBAC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589520" y="2240280"/>
            <a:ext cx="3886200" cy="3630168"/>
          </a:xfrm>
          <a:prstGeom prst="roundRect">
            <a:avLst>
              <a:gd name="adj" fmla="val 3023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909560" y="24505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on record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7909560" y="283464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architectural decisions are written down with their reasoning — including the ones we got wrong, and one we had to publicly reverse after re-checking it.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dataset that looked ideal and turned out unusable. A merge that made the model worse. A metric that hid a failure for an hour.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it is in the repository.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people, one build.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764792" y="2578608"/>
            <a:ext cx="1188720" cy="1188720"/>
          </a:xfrm>
          <a:prstGeom prst="ellipse">
            <a:avLst/>
          </a:prstGeom>
          <a:solidFill>
            <a:srgbClr val="22D3EE">
              <a:alpha val="18000"/>
            </a:srgbClr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64792" y="30540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95020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Ayaan Aatif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62686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ML pipeline, demo delivery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43400" y="228600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22392" y="2578608"/>
            <a:ext cx="1188720" cy="1188720"/>
          </a:xfrm>
          <a:prstGeom prst="ellipse">
            <a:avLst/>
          </a:prstGeom>
          <a:solidFill>
            <a:srgbClr val="6366F1">
              <a:alpha val="18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22392" y="30540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4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95020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Muneed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462686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Add focus area ]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01000" y="228600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079992" y="2578608"/>
            <a:ext cx="1188720" cy="1188720"/>
          </a:xfrm>
          <a:prstGeom prst="ellipse">
            <a:avLst/>
          </a:prstGeom>
          <a:solidFill>
            <a:srgbClr val="A78BFA">
              <a:alpha val="18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79992" y="30540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4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395020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Inshrah Mehmood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62686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Add focus area ]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80644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Add contact email · GitHub · LinkedIn ]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NEXT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roadmap.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3337560" cy="2926080"/>
          </a:xfrm>
          <a:prstGeom prst="roundRect">
            <a:avLst>
              <a:gd name="adj" fmla="val 3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505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" y="2999232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79576" y="292608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 detection, measured on unseen data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371246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9576" y="363931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scoring and PDF reports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4425696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9576" y="435254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3D viewer, auth, Docker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2286000"/>
            <a:ext cx="3337560" cy="2926080"/>
          </a:xfrm>
          <a:prstGeom prst="roundRect">
            <a:avLst>
              <a:gd name="adj" fmla="val 3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617720" y="2505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17720" y="2999232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37176" y="292608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Varied training data to close the 63/81 gap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17720" y="371246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37176" y="363931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defect classes — corrosion, spalling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17720" y="4425696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37176" y="435254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Cross-frame tracking so video counts are real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01000" y="2286000"/>
            <a:ext cx="3337560" cy="2926080"/>
          </a:xfrm>
          <a:prstGeom prst="roundRect">
            <a:avLst>
              <a:gd name="adj" fmla="val 3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275320" y="2505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75320" y="2999232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494776" y="292608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Photogrammetric twin from the imagery itself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75320" y="3712464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494776" y="363931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 once trend data exists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75320" y="4425696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494776" y="435254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drone and robot integration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5486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 needs longitudinal data that does not exist yet. We are not going to pretend otherwise.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08760" y="-2011680"/>
            <a:ext cx="9144000" cy="9144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1488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does not replace an engineer.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0632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the first pass, so the engineer spends their time on judgement</a:t>
            </a:r>
            <a:endParaRPr lang="en-US" sz="2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data collection — and it tells you exactly how much to trust it.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70916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TwinVerse Inspect AI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1663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Ayaan Aatif  ·  Muhammad Muneed  ·  Inshrah Mehmood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57784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Add repository link · contact email ]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TwinVerse Inspect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TwinVerse Inspect AI</dc:title>
  <dc:subject>PptxGenJS Presentation</dc:subject>
  <dc:creator>Ayaan Aatif</dc:creator>
  <cp:lastModifiedBy>Ayaan Aatif</cp:lastModifiedBy>
  <cp:revision>1</cp:revision>
  <dcterms:created xsi:type="dcterms:W3CDTF">2026-08-31T21:25:53Z</dcterms:created>
  <dcterms:modified xsi:type="dcterms:W3CDTF">2026-08-31T21:25:53Z</dcterms:modified>
</cp:coreProperties>
</file>