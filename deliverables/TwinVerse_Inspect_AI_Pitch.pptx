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2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mAP50 (standard metric)</c:v>
                </c:pt>
              </c:strCache>
            </c:strRef>
          </c:tx>
          <c:spPr>
            <a:solidFill>
              <a:srgbClr val="64748B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E8EEF8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Model A</c:v>
                  </c:pt>
                  <c:pt idx="1">
                    <c:v>Model B</c:v>
                  </c:pt>
                  <c:pt idx="2">
                    <c:v>Model C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0.442</c:v>
                </c:pt>
                <c:pt idx="1">
                  <c:v>0.373</c:v>
                </c:pt>
                <c:pt idx="2">
                  <c:v>0.436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Separation (does it actually work)</c:v>
                </c:pt>
              </c:strCache>
            </c:strRef>
          </c:tx>
          <c:spPr>
            <a:solidFill>
              <a:srgbClr val="22D3EE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E8EEF8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Model A</c:v>
                  </c:pt>
                  <c:pt idx="1">
                    <c:v>Model B</c:v>
                  </c:pt>
                  <c:pt idx="2">
                    <c:v>Model C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0.258</c:v>
                </c:pt>
                <c:pt idx="1">
                  <c:v>0</c:v>
                </c:pt>
                <c:pt idx="2">
                  <c:v>0.611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0" i="0" strike="noStrike" sz="900" u="none">
                  <a:solidFill>
                    <a:srgbClr val="E8EEF8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9FB0C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8"/>
        </c:scaling>
        <c:delete val="0"/>
        <c:axPos val="l"/>
        <c:majorGridlines>
          <c:spPr>
            <a:ln w="12700" cap="flat">
              <a:solidFill>
                <a:srgbClr val="1E2B4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70B14"/>
        </a:solidFill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000">
              <a:solidFill>
                <a:srgbClr val="9FB0CC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070B14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Cracks found</c:v>
                </c:pt>
              </c:strCache>
            </c:strRef>
          </c:tx>
          <c:spPr>
            <a:solidFill>
              <a:srgbClr val="64748B"/>
            </a:solidFill>
            <a:effectLst/>
          </c:spPr>
          <c:invertIfNegative val="0"/>
          <c:dLbls>
            <c:numFmt formatCode="0%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E8EEF8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64748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64748B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64748B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22D3EE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crack-b</c:v>
                  </c:pt>
                  <c:pt idx="1">
                    <c:v>crack-bphdr</c:v>
                  </c:pt>
                  <c:pt idx="2">
                    <c:v>nitw-crack</c:v>
                  </c:pt>
                  <c:pt idx="3">
                    <c:v>bridge-defect
(unseen)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</c:v>
                </c:pt>
                <c:pt idx="1">
                  <c:v>0.982</c:v>
                </c:pt>
                <c:pt idx="2">
                  <c:v>0.838</c:v>
                </c:pt>
                <c:pt idx="3">
                  <c:v>0.558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b="0" i="0" strike="noStrike" sz="1100" u="none">
                  <a:solidFill>
                    <a:srgbClr val="E8EEF8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FB0C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</c:scaling>
        <c:delete val="0"/>
        <c:axPos val="l"/>
        <c:majorGridlines>
          <c:spPr>
            <a:ln w="12700" cap="flat">
              <a:solidFill>
                <a:srgbClr val="1E2B4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70B14"/>
        </a:solidFill>
        <a:ln>
          <a:noFill/>
        </a:ln>
        <a:effectLst/>
      </c:spPr>
    </c:plotArea>
    <c:plotVisOnly val="1"/>
    <c:dispBlanksAs val="span"/>
  </c:chart>
  <c:spPr>
    <a:solidFill>
      <a:srgbClr val="070B14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on the problem, not the product. 'Inspectors climb bridges, rappel down dams, and walk pipelines with clipboards.' Then introduce the team.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this to 30 seconds. The audience already believes the problem — do not over-sell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elevator pitch slide. If you only get one slide, use this 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Switch to the live demo after this slide if the room is going well.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differentiator. Most teams show a number. We show where the number came from.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a judge asks one technical question, it will probably be about evaluation. This slide is the answer. Then turn the page — the next slide is the one they will remember.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 this confidently. Most teams quote the number from their own test split and have never run this experiment. Volunteering the weaker figure, with the dataset named, is what separates a measured system from a demo. If asked why it drops: the training set is one collection of concrete from one campus. More varied data is the fix, not a threshold.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Orbit the viewer live if the demo is working. Then immediately state what it is not.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not skip this slide to save time. It is the one that separates us. Deliver it confidently, not apologetically.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Cloud note: the S3 layer means MinIO swaps for Alibaba OSS or AWS S3 with a config change only.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Replace the circles with headshots and fill in each member's focus area before presenting.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'later' column is deliberately labelled later, not coming soon.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Land on the sentence, pause, then invite questions. Do not add a summary slide after this.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0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743200" y="-3108960"/>
            <a:ext cx="9144000" cy="9144000"/>
          </a:xfrm>
          <a:prstGeom prst="ellipse">
            <a:avLst/>
          </a:prstGeom>
          <a:solidFill>
            <a:srgbClr val="6366F1">
              <a:alpha val="14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223760" y="2286000"/>
            <a:ext cx="8229600" cy="8229600"/>
          </a:xfrm>
          <a:prstGeom prst="ellipse">
            <a:avLst/>
          </a:prstGeom>
          <a:solidFill>
            <a:srgbClr val="22D3EE">
              <a:alpha val="12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85800" y="18745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STRUCTURAL SCREENING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2286000"/>
            <a:ext cx="10515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TwinVerse Inspect AI</a:t>
            </a:r>
            <a:endParaRPr lang="en-US" sz="58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3310128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 the unreachable.</a:t>
            </a:r>
            <a:endParaRPr lang="en-US" sz="27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3950208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Drone, CCTV and handheld imagery in — located defects, ranked severity, and a shareable report out.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85800" y="5047488"/>
            <a:ext cx="100584" cy="100584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86968" y="493776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Ayaan Aatif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86968" y="5193792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Lead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886200" y="5047488"/>
            <a:ext cx="100584" cy="100584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087368" y="493776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Muhammad Muneeb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087368" y="5193792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Backend, Data &amp; API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7086600" y="5047488"/>
            <a:ext cx="100584" cy="100584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287768" y="493776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Inshrah Mehmood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7287768" y="5193792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&amp; Outreach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685800" y="605332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Alibaba Cloud AI Hackathon Pakistan 2026   ·   Bano Qabil · Alkhidmat Foundation Pakistan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0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-2377440"/>
            <a:ext cx="6858000" cy="6858000"/>
          </a:xfrm>
          <a:prstGeom prst="ellipse">
            <a:avLst/>
          </a:prstGeom>
          <a:solidFill>
            <a:srgbClr val="6366F1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955280" y="3017520"/>
            <a:ext cx="6400800" cy="6400800"/>
          </a:xfrm>
          <a:prstGeom prst="ellipse">
            <a:avLst/>
          </a:prstGeom>
          <a:solidFill>
            <a:srgbClr val="22D3EE">
              <a:alpha val="9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85800" y="5669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896112"/>
            <a:ext cx="10789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Inspection today is manual, slow,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genuinely dangerous.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685800" y="2487168"/>
            <a:ext cx="5120640" cy="1325880"/>
          </a:xfrm>
          <a:prstGeom prst="roundRect">
            <a:avLst>
              <a:gd name="adj" fmla="val 8276"/>
            </a:avLst>
          </a:prstGeom>
          <a:solidFill>
            <a:srgbClr val="111A2E">
              <a:alpha val="82000"/>
            </a:srgbClr>
          </a:solidFill>
          <a:ln w="12700">
            <a:solidFill>
              <a:srgbClr val="1E2B4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78408" y="2798064"/>
            <a:ext cx="146304" cy="146304"/>
          </a:xfrm>
          <a:prstGeom prst="ellipse">
            <a:avLst/>
          </a:prstGeom>
          <a:solidFill>
            <a:srgbClr val="F43F5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252728" y="2688336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Dangerous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252728" y="3035808"/>
            <a:ext cx="4343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Engineers rappel down dams and climb bridge soffits to look at concrete with their own eyes.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17920" y="2487168"/>
            <a:ext cx="5120640" cy="1325880"/>
          </a:xfrm>
          <a:prstGeom prst="roundRect">
            <a:avLst>
              <a:gd name="adj" fmla="val 8276"/>
            </a:avLst>
          </a:prstGeom>
          <a:solidFill>
            <a:srgbClr val="111A2E">
              <a:alpha val="82000"/>
            </a:srgbClr>
          </a:solidFill>
          <a:ln w="12700">
            <a:solidFill>
              <a:srgbClr val="1E2B4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510528" y="2798064"/>
            <a:ext cx="146304" cy="146304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784848" y="2688336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6784848" y="3035808"/>
            <a:ext cx="4343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span can take days to survey. Backlogs mean structures go years between inspections.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85800" y="4059936"/>
            <a:ext cx="5120640" cy="1325880"/>
          </a:xfrm>
          <a:prstGeom prst="roundRect">
            <a:avLst>
              <a:gd name="adj" fmla="val 8276"/>
            </a:avLst>
          </a:prstGeom>
          <a:solidFill>
            <a:srgbClr val="111A2E">
              <a:alpha val="82000"/>
            </a:srgbClr>
          </a:solidFill>
          <a:ln w="12700">
            <a:solidFill>
              <a:srgbClr val="1E2B4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978408" y="4370832"/>
            <a:ext cx="146304" cy="146304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1252728" y="4261104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Inconsistent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252728" y="4608576"/>
            <a:ext cx="4343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inspectors, two clipboards, two different answers about the same crack.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217920" y="4059936"/>
            <a:ext cx="5120640" cy="1325880"/>
          </a:xfrm>
          <a:prstGeom prst="roundRect">
            <a:avLst>
              <a:gd name="adj" fmla="val 8276"/>
            </a:avLst>
          </a:prstGeom>
          <a:solidFill>
            <a:srgbClr val="111A2E">
              <a:alpha val="82000"/>
            </a:srgbClr>
          </a:solidFill>
          <a:ln w="12700">
            <a:solidFill>
              <a:srgbClr val="1E2B4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3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510528" y="4370832"/>
            <a:ext cx="146304" cy="146304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784848" y="4261104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Reactive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6784848" y="4608576"/>
            <a:ext cx="4343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Defects are found after they matter, not before. Maintenance is repair, not prevention.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0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-2377440"/>
            <a:ext cx="6858000" cy="6858000"/>
          </a:xfrm>
          <a:prstGeom prst="ellipse">
            <a:avLst/>
          </a:prstGeom>
          <a:solidFill>
            <a:srgbClr val="6366F1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955280" y="3017520"/>
            <a:ext cx="6400800" cy="6400800"/>
          </a:xfrm>
          <a:prstGeom prst="ellipse">
            <a:avLst/>
          </a:prstGeom>
          <a:solidFill>
            <a:srgbClr val="22D3EE">
              <a:alpha val="9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85800" y="5669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BUILT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896112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first pass that never has to climb anything.</a:t>
            </a:r>
            <a:endParaRPr lang="en-US" sz="3800" dirty="0"/>
          </a:p>
        </p:txBody>
      </p:sp>
      <p:sp>
        <p:nvSpPr>
          <p:cNvPr id="6" name="Shape 4"/>
          <p:cNvSpPr/>
          <p:nvPr/>
        </p:nvSpPr>
        <p:spPr>
          <a:xfrm>
            <a:off x="685800" y="2286000"/>
            <a:ext cx="2560320" cy="2651760"/>
          </a:xfrm>
          <a:prstGeom prst="roundRect">
            <a:avLst>
              <a:gd name="adj" fmla="val 4286"/>
            </a:avLst>
          </a:prstGeom>
          <a:solidFill>
            <a:srgbClr val="111A2E">
              <a:alpha val="82000"/>
            </a:srgbClr>
          </a:solidFill>
          <a:ln w="12700">
            <a:solidFill>
              <a:srgbClr val="1E2B4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941832" y="2487168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600" dirty="0"/>
          </a:p>
        </p:txBody>
      </p:sp>
      <p:sp>
        <p:nvSpPr>
          <p:cNvPr id="8" name="Text 6"/>
          <p:cNvSpPr txBox="1"/>
          <p:nvPr/>
        </p:nvSpPr>
        <p:spPr>
          <a:xfrm>
            <a:off x="941832" y="301752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941832" y="3401568"/>
            <a:ext cx="212140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Drone, CCTV, robot or a phone. Images or video.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3300984" y="3310128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3474720" y="2286000"/>
            <a:ext cx="2560320" cy="2651760"/>
          </a:xfrm>
          <a:prstGeom prst="roundRect">
            <a:avLst>
              <a:gd name="adj" fmla="val 4286"/>
            </a:avLst>
          </a:prstGeom>
          <a:solidFill>
            <a:srgbClr val="111A2E">
              <a:alpha val="82000"/>
            </a:srgbClr>
          </a:solidFill>
          <a:ln w="12700">
            <a:solidFill>
              <a:srgbClr val="1E2B4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35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3730752" y="2487168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600" dirty="0"/>
          </a:p>
        </p:txBody>
      </p:sp>
      <p:sp>
        <p:nvSpPr>
          <p:cNvPr id="13" name="Text 11"/>
          <p:cNvSpPr txBox="1"/>
          <p:nvPr/>
        </p:nvSpPr>
        <p:spPr>
          <a:xfrm>
            <a:off x="3730752" y="301752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3730752" y="3401568"/>
            <a:ext cx="212140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fine-tuned YOLOv11 model locates cracks and draws a box around each one.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6089904" y="3310128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6263640" y="2286000"/>
            <a:ext cx="2560320" cy="2651760"/>
          </a:xfrm>
          <a:prstGeom prst="roundRect">
            <a:avLst>
              <a:gd name="adj" fmla="val 4286"/>
            </a:avLst>
          </a:prstGeom>
          <a:solidFill>
            <a:srgbClr val="111A2E">
              <a:alpha val="82000"/>
            </a:srgbClr>
          </a:solidFill>
          <a:ln w="12700">
            <a:solidFill>
              <a:srgbClr val="1E2B4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35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6519672" y="2487168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600" dirty="0"/>
          </a:p>
        </p:txBody>
      </p:sp>
      <p:sp>
        <p:nvSpPr>
          <p:cNvPr id="18" name="Text 16"/>
          <p:cNvSpPr txBox="1"/>
          <p:nvPr/>
        </p:nvSpPr>
        <p:spPr>
          <a:xfrm>
            <a:off x="6519672" y="301752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6519672" y="3401568"/>
            <a:ext cx="212140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detection gets a severity score from a formula shown on screen.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8878824" y="3310128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9052560" y="2286000"/>
            <a:ext cx="2560320" cy="2651760"/>
          </a:xfrm>
          <a:prstGeom prst="roundRect">
            <a:avLst>
              <a:gd name="adj" fmla="val 4286"/>
            </a:avLst>
          </a:prstGeom>
          <a:solidFill>
            <a:srgbClr val="111A2E">
              <a:alpha val="82000"/>
            </a:srgbClr>
          </a:solidFill>
          <a:ln w="12700">
            <a:solidFill>
              <a:srgbClr val="1E2B4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35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9308592" y="2487168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600" dirty="0"/>
          </a:p>
        </p:txBody>
      </p:sp>
      <p:sp>
        <p:nvSpPr>
          <p:cNvPr id="23" name="Text 21"/>
          <p:cNvSpPr txBox="1"/>
          <p:nvPr/>
        </p:nvSpPr>
        <p:spPr>
          <a:xfrm>
            <a:off x="9308592" y="301752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</a:t>
            </a:r>
            <a:endParaRPr lang="en-US" sz="1700" dirty="0"/>
          </a:p>
        </p:txBody>
      </p:sp>
      <p:sp>
        <p:nvSpPr>
          <p:cNvPr id="24" name="Text 22"/>
          <p:cNvSpPr txBox="1"/>
          <p:nvPr/>
        </p:nvSpPr>
        <p:spPr>
          <a:xfrm>
            <a:off x="9308592" y="3401568"/>
            <a:ext cx="212140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Annotated images, a 3D view, and a PDF anyone can forward.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685800" y="525780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engineer still decides. The system removes the part of the job that is climbing, photographing, and sorting.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0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-2377440"/>
            <a:ext cx="6858000" cy="6858000"/>
          </a:xfrm>
          <a:prstGeom prst="ellipse">
            <a:avLst/>
          </a:prstGeom>
          <a:solidFill>
            <a:srgbClr val="6366F1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955280" y="3017520"/>
            <a:ext cx="6400800" cy="6400800"/>
          </a:xfrm>
          <a:prstGeom prst="ellipse">
            <a:avLst/>
          </a:prstGeom>
          <a:solidFill>
            <a:srgbClr val="22D3EE">
              <a:alpha val="9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85800" y="5669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896112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mockup. A running system.</a:t>
            </a:r>
            <a:endParaRPr lang="en-US" sz="3800" dirty="0"/>
          </a:p>
        </p:txBody>
      </p:sp>
      <p:sp>
        <p:nvSpPr>
          <p:cNvPr id="6" name="Shape 4"/>
          <p:cNvSpPr/>
          <p:nvPr/>
        </p:nvSpPr>
        <p:spPr>
          <a:xfrm>
            <a:off x="685800" y="2240280"/>
            <a:ext cx="2560320" cy="1463040"/>
          </a:xfrm>
          <a:prstGeom prst="roundRect">
            <a:avLst>
              <a:gd name="adj" fmla="val 7500"/>
            </a:avLst>
          </a:prstGeom>
          <a:solidFill>
            <a:srgbClr val="111A2E">
              <a:alpha val="82000"/>
            </a:srgbClr>
          </a:solidFill>
          <a:ln w="12700">
            <a:solidFill>
              <a:srgbClr val="1E2B4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941832" y="2395728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104</a:t>
            </a:r>
            <a:endParaRPr lang="en-US" sz="4000" dirty="0"/>
          </a:p>
        </p:txBody>
      </p:sp>
      <p:sp>
        <p:nvSpPr>
          <p:cNvPr id="8" name="Text 6"/>
          <p:cNvSpPr txBox="1"/>
          <p:nvPr/>
        </p:nvSpPr>
        <p:spPr>
          <a:xfrm>
            <a:off x="941832" y="3090672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tests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474720" y="2240280"/>
            <a:ext cx="2560320" cy="1463040"/>
          </a:xfrm>
          <a:prstGeom prst="roundRect">
            <a:avLst>
              <a:gd name="adj" fmla="val 7500"/>
            </a:avLst>
          </a:prstGeom>
          <a:solidFill>
            <a:srgbClr val="111A2E">
              <a:alpha val="82000"/>
            </a:srgbClr>
          </a:solidFill>
          <a:ln w="12700">
            <a:solidFill>
              <a:srgbClr val="1E2B4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35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3730752" y="2395728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4000" dirty="0"/>
          </a:p>
        </p:txBody>
      </p:sp>
      <p:sp>
        <p:nvSpPr>
          <p:cNvPr id="11" name="Text 9"/>
          <p:cNvSpPr txBox="1"/>
          <p:nvPr/>
        </p:nvSpPr>
        <p:spPr>
          <a:xfrm>
            <a:off x="3730752" y="3090672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63640" y="2240280"/>
            <a:ext cx="2560320" cy="1463040"/>
          </a:xfrm>
          <a:prstGeom prst="roundRect">
            <a:avLst>
              <a:gd name="adj" fmla="val 7500"/>
            </a:avLst>
          </a:prstGeom>
          <a:solidFill>
            <a:srgbClr val="111A2E">
              <a:alpha val="82000"/>
            </a:srgbClr>
          </a:solidFill>
          <a:ln w="12700">
            <a:solidFill>
              <a:srgbClr val="1E2B4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35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6519672" y="2395728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6.1s</a:t>
            </a:r>
            <a:endParaRPr lang="en-US" sz="4000" dirty="0"/>
          </a:p>
        </p:txBody>
      </p:sp>
      <p:sp>
        <p:nvSpPr>
          <p:cNvPr id="14" name="Text 12"/>
          <p:cNvSpPr txBox="1"/>
          <p:nvPr/>
        </p:nvSpPr>
        <p:spPr>
          <a:xfrm>
            <a:off x="6519672" y="3090672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analyse 8 images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9052560" y="2240280"/>
            <a:ext cx="2560320" cy="1463040"/>
          </a:xfrm>
          <a:prstGeom prst="roundRect">
            <a:avLst>
              <a:gd name="adj" fmla="val 7500"/>
            </a:avLst>
          </a:prstGeom>
          <a:solidFill>
            <a:srgbClr val="111A2E">
              <a:alpha val="82000"/>
            </a:srgbClr>
          </a:solidFill>
          <a:ln w="12700">
            <a:solidFill>
              <a:srgbClr val="1E2B4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35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9308592" y="2395728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7ms</a:t>
            </a:r>
            <a:endParaRPr lang="en-US" sz="4000" dirty="0"/>
          </a:p>
        </p:txBody>
      </p:sp>
      <p:sp>
        <p:nvSpPr>
          <p:cNvPr id="17" name="Text 15"/>
          <p:cNvSpPr txBox="1"/>
          <p:nvPr/>
        </p:nvSpPr>
        <p:spPr>
          <a:xfrm>
            <a:off x="9308592" y="3090672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 per image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85800" y="3931920"/>
            <a:ext cx="10789920" cy="1965960"/>
          </a:xfrm>
          <a:prstGeom prst="roundRect">
            <a:avLst>
              <a:gd name="adj" fmla="val 5581"/>
            </a:avLst>
          </a:prstGeom>
          <a:solidFill>
            <a:srgbClr val="111A2E">
              <a:alpha val="82000"/>
            </a:srgbClr>
          </a:solidFill>
          <a:ln w="12700">
            <a:solidFill>
              <a:srgbClr val="1E2B4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3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1051560" y="4242816"/>
            <a:ext cx="91440" cy="9144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1271016" y="4160520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API with S3-compatible object storage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309360" y="4242816"/>
            <a:ext cx="91440" cy="9144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528816" y="4160520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Fine-tuned crack detector, trained on 1,317 images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1051560" y="4754880"/>
            <a:ext cx="91440" cy="9144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1271016" y="4672584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 engine with a formula served live to the UI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309360" y="4754880"/>
            <a:ext cx="91440" cy="9144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528816" y="4672584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dashboard with 3D digital twin viewer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1051560" y="5266944"/>
            <a:ext cx="91440" cy="9144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1271016" y="5184648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reports with a limitations page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6309360" y="5266944"/>
            <a:ext cx="91440" cy="9144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6528816" y="5184648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auth, three roles, Docker Compose, CI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0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-2377440"/>
            <a:ext cx="6858000" cy="6858000"/>
          </a:xfrm>
          <a:prstGeom prst="ellipse">
            <a:avLst/>
          </a:prstGeom>
          <a:solidFill>
            <a:srgbClr val="6366F1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955280" y="3017520"/>
            <a:ext cx="6400800" cy="6400800"/>
          </a:xfrm>
          <a:prstGeom prst="ellipse">
            <a:avLst/>
          </a:prstGeom>
          <a:solidFill>
            <a:srgbClr val="22D3EE">
              <a:alpha val="9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85800" y="5669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EXPLAINABILITY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896112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number can be recomputed by hand.</a:t>
            </a:r>
            <a:endParaRPr lang="en-US" sz="3800" dirty="0"/>
          </a:p>
        </p:txBody>
      </p:sp>
      <p:sp>
        <p:nvSpPr>
          <p:cNvPr id="6" name="Shape 4"/>
          <p:cNvSpPr/>
          <p:nvPr/>
        </p:nvSpPr>
        <p:spPr>
          <a:xfrm>
            <a:off x="685800" y="2240280"/>
            <a:ext cx="6492240" cy="3200400"/>
          </a:xfrm>
          <a:prstGeom prst="roundRect">
            <a:avLst>
              <a:gd name="adj" fmla="val 3429"/>
            </a:avLst>
          </a:prstGeom>
          <a:solidFill>
            <a:srgbClr val="111A2E">
              <a:alpha val="82000"/>
            </a:srgbClr>
          </a:solidFill>
          <a:ln w="12700">
            <a:solidFill>
              <a:srgbClr val="1E2B4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1051560" y="251460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severity  =  area  ×  confidence  ×  class weight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051560" y="3127248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 detection from the demo data: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1051560" y="3456432"/>
            <a:ext cx="5760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0.0288  ×  0.558  ×  1.0  =  0.01606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1051560" y="3977640"/>
            <a:ext cx="5760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formula, the weights and the band thresholds are served by the API and rendered live — so what the dashboard shows can never drift from what the server computed.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7498080" y="2240280"/>
            <a:ext cx="3977640" cy="3200400"/>
          </a:xfrm>
          <a:prstGeom prst="roundRect">
            <a:avLst>
              <a:gd name="adj" fmla="val 3429"/>
            </a:avLst>
          </a:prstGeom>
          <a:solidFill>
            <a:srgbClr val="111A2E">
              <a:alpha val="82000"/>
            </a:srgbClr>
          </a:solidFill>
          <a:ln w="12700">
            <a:solidFill>
              <a:srgbClr val="1E2B4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35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7818120" y="24688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8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 BANDS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818120" y="2944368"/>
            <a:ext cx="128016" cy="128016"/>
          </a:xfrm>
          <a:prstGeom prst="ellipse">
            <a:avLst/>
          </a:prstGeom>
          <a:solidFill>
            <a:srgbClr val="F43F5E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055864" y="2852928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9464040" y="2852928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FB0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0.014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818120" y="3511296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055864" y="3419856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9464040" y="3419856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FB0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0.011 – 0.014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818120" y="4078224"/>
            <a:ext cx="128016" cy="128016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055864" y="3986784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350" dirty="0"/>
          </a:p>
        </p:txBody>
      </p:sp>
      <p:sp>
        <p:nvSpPr>
          <p:cNvPr id="21" name="Text 19"/>
          <p:cNvSpPr txBox="1"/>
          <p:nvPr/>
        </p:nvSpPr>
        <p:spPr>
          <a:xfrm>
            <a:off x="9464040" y="3986784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FB0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0.009 – 0.011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818120" y="4645152"/>
            <a:ext cx="128016" cy="128016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8055864" y="455371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350" dirty="0"/>
          </a:p>
        </p:txBody>
      </p:sp>
      <p:sp>
        <p:nvSpPr>
          <p:cNvPr id="24" name="Text 22"/>
          <p:cNvSpPr txBox="1"/>
          <p:nvPr/>
        </p:nvSpPr>
        <p:spPr>
          <a:xfrm>
            <a:off x="9464040" y="4553712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FB0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 0.009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7818120" y="51206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Calibrated against 308 real detections, not assumed.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0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-2377440"/>
            <a:ext cx="6858000" cy="6858000"/>
          </a:xfrm>
          <a:prstGeom prst="ellipse">
            <a:avLst/>
          </a:prstGeom>
          <a:solidFill>
            <a:srgbClr val="6366F1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955280" y="3017520"/>
            <a:ext cx="6400800" cy="6400800"/>
          </a:xfrm>
          <a:prstGeom prst="ellipse">
            <a:avLst/>
          </a:prstGeom>
          <a:solidFill>
            <a:srgbClr val="22D3EE">
              <a:alpha val="9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85800" y="5669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MEASUREMENT THAT MATTERED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896112"/>
            <a:ext cx="10789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standard metric said all three models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were the same. They were not.</a:t>
            </a:r>
            <a:endParaRPr lang="en-US" sz="32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685800" y="2395728"/>
          <a:ext cx="6583680" cy="3063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7589520" y="2395728"/>
            <a:ext cx="3886200" cy="3063240"/>
          </a:xfrm>
          <a:prstGeom prst="roundRect">
            <a:avLst>
              <a:gd name="adj" fmla="val 3582"/>
            </a:avLst>
          </a:prstGeom>
          <a:solidFill>
            <a:srgbClr val="111A2E">
              <a:alpha val="82000"/>
            </a:srgbClr>
          </a:solidFill>
          <a:ln w="12700">
            <a:solidFill>
              <a:srgbClr val="1E2B4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35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7909560" y="260604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learned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7909560" y="2999232"/>
            <a:ext cx="32918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is computed only over defects that are labelled. A validation set with no clean images cannot catch a model that fires on everything.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we tested each model against 94 defect-free photographs.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 looked fine and flagged half of all clean concrete. Model C flags one in five.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we asked the harder question: does it hold up on imagery from somewhere else?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70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-2377440"/>
            <a:ext cx="6858000" cy="6858000"/>
          </a:xfrm>
          <a:prstGeom prst="ellipse">
            <a:avLst/>
          </a:prstGeom>
          <a:solidFill>
            <a:srgbClr val="6366F1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955280" y="3017520"/>
            <a:ext cx="6400800" cy="6400800"/>
          </a:xfrm>
          <a:prstGeom prst="ellipse">
            <a:avLst/>
          </a:prstGeom>
          <a:solidFill>
            <a:srgbClr val="22D3EE">
              <a:alpha val="9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85800" y="5669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TRADE-OFF MOST TEAMS NEVER PRICE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896112"/>
            <a:ext cx="10789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picked the threshold by simulating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inspection, not by tuning a metric.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121408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missed crack is found at the next survey, or when something fails. A false alarm costs an engineer thirty seconds. So we stopped optimising a metric that treats them as equal, simulated 500-photograph surveys, and chose the threshold from a recall target.</a:t>
            </a:r>
            <a:endParaRPr lang="en-US" sz="135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685800" y="3017520"/>
          <a:ext cx="6583680" cy="2514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Shape 5"/>
          <p:cNvSpPr/>
          <p:nvPr/>
        </p:nvSpPr>
        <p:spPr>
          <a:xfrm>
            <a:off x="7589520" y="3017520"/>
            <a:ext cx="3886200" cy="2514600"/>
          </a:xfrm>
          <a:prstGeom prst="roundRect">
            <a:avLst>
              <a:gd name="adj" fmla="val 4364"/>
            </a:avLst>
          </a:prstGeom>
          <a:solidFill>
            <a:srgbClr val="111A2E">
              <a:alpha val="82000"/>
            </a:srgbClr>
          </a:solidFill>
          <a:ln w="12700">
            <a:solidFill>
              <a:srgbClr val="1E2B4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35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7909560" y="3218688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means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7909560" y="3611880"/>
            <a:ext cx="3291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Worst case across four datasets: 84% of cracks found. The previous model could not reach 80% on crack-b at any threshold — its best was 35%.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cost is that we flag 60% of photographs for review. A manual survey means looking at all of them, after climbing the structure.</a:t>
            </a:r>
            <a:endParaRPr lang="en-US" sz="1150" dirty="0"/>
          </a:p>
        </p:txBody>
      </p:sp>
      <p:sp>
        <p:nvSpPr>
          <p:cNvPr id="11" name="Text 8"/>
          <p:cNvSpPr txBox="1"/>
          <p:nvPr/>
        </p:nvSpPr>
        <p:spPr>
          <a:xfrm>
            <a:off x="685800" y="585216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is a safety decision. Review time is a budget. We priced both.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70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-2377440"/>
            <a:ext cx="6858000" cy="6858000"/>
          </a:xfrm>
          <a:prstGeom prst="ellipse">
            <a:avLst/>
          </a:prstGeom>
          <a:solidFill>
            <a:srgbClr val="6366F1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955280" y="3017520"/>
            <a:ext cx="6400800" cy="6400800"/>
          </a:xfrm>
          <a:prstGeom prst="ellipse">
            <a:avLst/>
          </a:prstGeom>
          <a:solidFill>
            <a:srgbClr val="22D3EE">
              <a:alpha val="9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85800" y="5669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VISUALISATION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896112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 photograph to a structure you can orbit.</a:t>
            </a:r>
            <a:endParaRPr lang="en-US" sz="3800" dirty="0"/>
          </a:p>
        </p:txBody>
      </p:sp>
      <p:sp>
        <p:nvSpPr>
          <p:cNvPr id="6" name="Shape 4"/>
          <p:cNvSpPr/>
          <p:nvPr/>
        </p:nvSpPr>
        <p:spPr>
          <a:xfrm>
            <a:off x="685800" y="2286000"/>
            <a:ext cx="5257800" cy="3200400"/>
          </a:xfrm>
          <a:prstGeom prst="roundRect">
            <a:avLst>
              <a:gd name="adj" fmla="val 3429"/>
            </a:avLst>
          </a:prstGeom>
          <a:solidFill>
            <a:srgbClr val="111A2E">
              <a:alpha val="82000"/>
            </a:srgbClr>
          </a:solidFill>
          <a:ln w="12700">
            <a:solidFill>
              <a:srgbClr val="1E2B4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1051560" y="2542032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image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051560" y="3072384"/>
            <a:ext cx="91440" cy="91440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271016" y="2999232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Bounding boxes drawn over each detection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1051560" y="3575304"/>
            <a:ext cx="91440" cy="91440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271016" y="3502152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Colour and size both carry severity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1051560" y="4078224"/>
            <a:ext cx="91440" cy="91440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271016" y="4005072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Hover a finding to see its arithmetic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1051560" y="4581144"/>
            <a:ext cx="91440" cy="91440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1271016" y="4507992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Boxes stored normalised, so they align at any zoom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263640" y="2286000"/>
            <a:ext cx="5212080" cy="3200400"/>
          </a:xfrm>
          <a:prstGeom prst="roundRect">
            <a:avLst>
              <a:gd name="adj" fmla="val 3429"/>
            </a:avLst>
          </a:prstGeom>
          <a:solidFill>
            <a:srgbClr val="111A2E">
              <a:alpha val="82000"/>
            </a:srgbClr>
          </a:solidFill>
          <a:ln w="12700">
            <a:solidFill>
              <a:srgbClr val="1E2B4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35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6629400" y="2542032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Twin v1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629400" y="3072384"/>
            <a:ext cx="91440" cy="91440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848856" y="2999232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3D structure with glowing severity markers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629400" y="3575304"/>
            <a:ext cx="91440" cy="91440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848856" y="3502152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any marker for its source image and score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629400" y="4078224"/>
            <a:ext cx="91440" cy="91440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848856" y="4005072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in code — no scanning rig required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629400" y="4581144"/>
            <a:ext cx="91440" cy="91440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848856" y="4507992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placement, and we say so on screen</a:t>
            </a:r>
            <a:endParaRPr lang="en-US" sz="1250" dirty="0"/>
          </a:p>
        </p:txBody>
      </p:sp>
      <p:pic>
        <p:nvPicPr>
          <p:cNvPr id="26" name="Image 0" descr="deck_dashboard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5532120"/>
            <a:ext cx="10789920" cy="1143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70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-2377440"/>
            <a:ext cx="6858000" cy="6858000"/>
          </a:xfrm>
          <a:prstGeom prst="ellipse">
            <a:avLst/>
          </a:prstGeom>
          <a:solidFill>
            <a:srgbClr val="6366F1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955280" y="3017520"/>
            <a:ext cx="6400800" cy="6400800"/>
          </a:xfrm>
          <a:prstGeom prst="ellipse">
            <a:avLst/>
          </a:prstGeom>
          <a:solidFill>
            <a:srgbClr val="22D3EE">
              <a:alpha val="9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85800" y="5669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 NOT DO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896112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measured the weaknesses too.</a:t>
            </a:r>
            <a:endParaRPr lang="en-US" sz="38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178308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one of these is stated in the product itself and on the last page of every report.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85800" y="2395728"/>
            <a:ext cx="3429000" cy="1143000"/>
          </a:xfrm>
          <a:prstGeom prst="roundRect">
            <a:avLst>
              <a:gd name="adj" fmla="val 9600"/>
            </a:avLst>
          </a:prstGeom>
          <a:solidFill>
            <a:srgbClr val="111A2E">
              <a:alpha val="82000"/>
            </a:srgbClr>
          </a:solidFill>
          <a:ln w="12700">
            <a:solidFill>
              <a:srgbClr val="1E2B4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3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923544" y="251460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Cracks only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923544" y="2807208"/>
            <a:ext cx="3017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defect class. It has never seen corrosion or spalling and will not report them.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370832" y="2395728"/>
            <a:ext cx="3429000" cy="1143000"/>
          </a:xfrm>
          <a:prstGeom prst="roundRect">
            <a:avLst>
              <a:gd name="adj" fmla="val 9600"/>
            </a:avLst>
          </a:prstGeom>
          <a:solidFill>
            <a:srgbClr val="111A2E">
              <a:alpha val="82000"/>
            </a:srgbClr>
          </a:solidFill>
          <a:ln w="12700">
            <a:solidFill>
              <a:srgbClr val="1E2B4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4608576" y="251460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flag 60% of photographs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608576" y="2807208"/>
            <a:ext cx="3017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Deliberate. Recall is the safety metric; review time is the cost. The threshold is a slider.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055864" y="2395728"/>
            <a:ext cx="3429000" cy="1143000"/>
          </a:xfrm>
          <a:prstGeom prst="roundRect">
            <a:avLst>
              <a:gd name="adj" fmla="val 9600"/>
            </a:avLst>
          </a:prstGeom>
          <a:solidFill>
            <a:srgbClr val="111A2E">
              <a:alpha val="82000"/>
            </a:srgbClr>
          </a:solidFill>
          <a:ln w="12700">
            <a:solidFill>
              <a:srgbClr val="1E2B4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35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8293608" y="251460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56% on the one unseen source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8293608" y="2807208"/>
            <a:ext cx="3017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Versus 84-100% on the three in training. Only bridge-defect is wholly unseen, and we say so.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85800" y="3675888"/>
            <a:ext cx="3429000" cy="1143000"/>
          </a:xfrm>
          <a:prstGeom prst="roundRect">
            <a:avLst>
              <a:gd name="adj" fmla="val 9600"/>
            </a:avLst>
          </a:prstGeom>
          <a:solidFill>
            <a:srgbClr val="111A2E">
              <a:alpha val="82000"/>
            </a:srgbClr>
          </a:solidFill>
          <a:ln w="12700">
            <a:solidFill>
              <a:srgbClr val="1E2B4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35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923544" y="379476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 is relative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923544" y="4087368"/>
            <a:ext cx="3017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ranks which crack to look at first. It does not measure width in millimetres.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370832" y="3675888"/>
            <a:ext cx="3429000" cy="1143000"/>
          </a:xfrm>
          <a:prstGeom prst="roundRect">
            <a:avLst>
              <a:gd name="adj" fmla="val 9600"/>
            </a:avLst>
          </a:prstGeom>
          <a:solidFill>
            <a:srgbClr val="111A2E">
              <a:alpha val="82000"/>
            </a:srgbClr>
          </a:solidFill>
          <a:ln w="12700">
            <a:solidFill>
              <a:srgbClr val="1E2B4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35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4608576" y="379476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3D view is illustrative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4608576" y="4087368"/>
            <a:ext cx="3017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Marker positions come from capture order, not surveyed coordinates.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8055864" y="3675888"/>
            <a:ext cx="3429000" cy="1143000"/>
          </a:xfrm>
          <a:prstGeom prst="roundRect">
            <a:avLst>
              <a:gd name="adj" fmla="val 9600"/>
            </a:avLst>
          </a:prstGeom>
          <a:solidFill>
            <a:srgbClr val="111A2E">
              <a:alpha val="82000"/>
            </a:srgbClr>
          </a:solidFill>
          <a:ln w="12700">
            <a:solidFill>
              <a:srgbClr val="1E2B4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35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8293608" y="379476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counts are inflated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8293608" y="4087368"/>
            <a:ext cx="3017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Frames are analysed independently, so one crack can be counted many times.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85800" y="4956048"/>
            <a:ext cx="3429000" cy="1143000"/>
          </a:xfrm>
          <a:prstGeom prst="roundRect">
            <a:avLst>
              <a:gd name="adj" fmla="val 9600"/>
            </a:avLst>
          </a:prstGeom>
          <a:solidFill>
            <a:srgbClr val="111A2E">
              <a:alpha val="82000"/>
            </a:srgbClr>
          </a:solidFill>
          <a:ln w="12700">
            <a:solidFill>
              <a:srgbClr val="1E2B4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35000"/>
              </a:srgbClr>
            </a:outerShdw>
          </a:effectLst>
        </p:spPr>
      </p:sp>
      <p:sp>
        <p:nvSpPr>
          <p:cNvPr id="26" name="Text 24"/>
          <p:cNvSpPr txBox="1"/>
          <p:nvPr/>
        </p:nvSpPr>
        <p:spPr>
          <a:xfrm>
            <a:off x="923544" y="507492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an engineering assessment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923544" y="5367528"/>
            <a:ext cx="3017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a screening pass. A qualified engineer still signs off.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685800" y="626364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Naming a weakness costs far less than being caught by it.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70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-2377440"/>
            <a:ext cx="6858000" cy="6858000"/>
          </a:xfrm>
          <a:prstGeom prst="ellipse">
            <a:avLst/>
          </a:prstGeom>
          <a:solidFill>
            <a:srgbClr val="6366F1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955280" y="3017520"/>
            <a:ext cx="6400800" cy="6400800"/>
          </a:xfrm>
          <a:prstGeom prst="ellipse">
            <a:avLst/>
          </a:prstGeom>
          <a:solidFill>
            <a:srgbClr val="22D3EE">
              <a:alpha val="9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85800" y="5669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HOOD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896112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Boring technology, deliberately.</a:t>
            </a:r>
            <a:endParaRPr lang="en-US" sz="3800" dirty="0"/>
          </a:p>
        </p:txBody>
      </p:sp>
      <p:sp>
        <p:nvSpPr>
          <p:cNvPr id="6" name="Shape 4"/>
          <p:cNvSpPr/>
          <p:nvPr/>
        </p:nvSpPr>
        <p:spPr>
          <a:xfrm>
            <a:off x="685800" y="2240280"/>
            <a:ext cx="6492240" cy="585216"/>
          </a:xfrm>
          <a:prstGeom prst="roundRect">
            <a:avLst>
              <a:gd name="adj" fmla="val 18750"/>
            </a:avLst>
          </a:prstGeom>
          <a:solidFill>
            <a:srgbClr val="111A2E">
              <a:alpha val="82000"/>
            </a:srgbClr>
          </a:solidFill>
          <a:ln w="12700">
            <a:solidFill>
              <a:srgbClr val="1E2B4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60120" y="2468880"/>
            <a:ext cx="128016" cy="128016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234440" y="2377440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2697480" y="2386584"/>
            <a:ext cx="4297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16 · React 19 · Three.js · Tailwind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85800" y="2953512"/>
            <a:ext cx="6492240" cy="585216"/>
          </a:xfrm>
          <a:prstGeom prst="roundRect">
            <a:avLst>
              <a:gd name="adj" fmla="val 18750"/>
            </a:avLst>
          </a:prstGeom>
          <a:solidFill>
            <a:srgbClr val="111A2E">
              <a:alpha val="82000"/>
            </a:srgbClr>
          </a:solidFill>
          <a:ln w="12700">
            <a:solidFill>
              <a:srgbClr val="1E2B4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960120" y="3182112"/>
            <a:ext cx="128016" cy="128016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234440" y="3090672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2697480" y="3099816"/>
            <a:ext cx="4297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· Python 3.12 · SQLAlchemy · Alembic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85800" y="3666744"/>
            <a:ext cx="6492240" cy="585216"/>
          </a:xfrm>
          <a:prstGeom prst="roundRect">
            <a:avLst>
              <a:gd name="adj" fmla="val 18750"/>
            </a:avLst>
          </a:prstGeom>
          <a:solidFill>
            <a:srgbClr val="111A2E">
              <a:alpha val="82000"/>
            </a:srgbClr>
          </a:solidFill>
          <a:ln w="12700">
            <a:solidFill>
              <a:srgbClr val="1E2B4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960120" y="3895344"/>
            <a:ext cx="128016" cy="128016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1234440" y="3803904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2697480" y="3813048"/>
            <a:ext cx="4297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YOLOv11n fine-tuned · PyTorch 2.13 · CUDA 13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85800" y="4379976"/>
            <a:ext cx="6492240" cy="585216"/>
          </a:xfrm>
          <a:prstGeom prst="roundRect">
            <a:avLst>
              <a:gd name="adj" fmla="val 18750"/>
            </a:avLst>
          </a:prstGeom>
          <a:solidFill>
            <a:srgbClr val="111A2E">
              <a:alpha val="82000"/>
            </a:srgbClr>
          </a:solidFill>
          <a:ln w="12700">
            <a:solidFill>
              <a:srgbClr val="1E2B4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3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960120" y="4608576"/>
            <a:ext cx="128016" cy="128016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1234440" y="4517136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350" dirty="0"/>
          </a:p>
        </p:txBody>
      </p:sp>
      <p:sp>
        <p:nvSpPr>
          <p:cNvPr id="21" name="Text 19"/>
          <p:cNvSpPr txBox="1"/>
          <p:nvPr/>
        </p:nvSpPr>
        <p:spPr>
          <a:xfrm>
            <a:off x="2697480" y="4526280"/>
            <a:ext cx="4297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16 · MinIO (S3-compatible)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85800" y="5093208"/>
            <a:ext cx="6492240" cy="585216"/>
          </a:xfrm>
          <a:prstGeom prst="roundRect">
            <a:avLst>
              <a:gd name="adj" fmla="val 18750"/>
            </a:avLst>
          </a:prstGeom>
          <a:solidFill>
            <a:srgbClr val="111A2E">
              <a:alpha val="82000"/>
            </a:srgbClr>
          </a:solidFill>
          <a:ln w="12700">
            <a:solidFill>
              <a:srgbClr val="1E2B4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3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960120" y="5321808"/>
            <a:ext cx="128016" cy="128016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1234440" y="5230368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</a:t>
            </a:r>
            <a:endParaRPr lang="en-US" sz="1350" dirty="0"/>
          </a:p>
        </p:txBody>
      </p:sp>
      <p:sp>
        <p:nvSpPr>
          <p:cNvPr id="25" name="Text 23"/>
          <p:cNvSpPr txBox="1"/>
          <p:nvPr/>
        </p:nvSpPr>
        <p:spPr>
          <a:xfrm>
            <a:off x="2697480" y="5239512"/>
            <a:ext cx="4297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 · GitHub Actions CI · JWT + RBAC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7589520" y="2240280"/>
            <a:ext cx="3886200" cy="3630168"/>
          </a:xfrm>
          <a:prstGeom prst="roundRect">
            <a:avLst>
              <a:gd name="adj" fmla="val 3023"/>
            </a:avLst>
          </a:prstGeom>
          <a:solidFill>
            <a:srgbClr val="111A2E">
              <a:alpha val="82000"/>
            </a:srgbClr>
          </a:solidFill>
          <a:ln w="12700">
            <a:solidFill>
              <a:srgbClr val="1E2B4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35000"/>
              </a:srgbClr>
            </a:outerShdw>
          </a:effectLst>
        </p:spPr>
      </p:sp>
      <p:sp>
        <p:nvSpPr>
          <p:cNvPr id="27" name="Text 25"/>
          <p:cNvSpPr txBox="1"/>
          <p:nvPr/>
        </p:nvSpPr>
        <p:spPr>
          <a:xfrm>
            <a:off x="7909560" y="2450592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 on record</a:t>
            </a:r>
            <a:endParaRPr lang="en-US" sz="1450" dirty="0"/>
          </a:p>
        </p:txBody>
      </p:sp>
      <p:sp>
        <p:nvSpPr>
          <p:cNvPr id="28" name="Text 26"/>
          <p:cNvSpPr txBox="1"/>
          <p:nvPr/>
        </p:nvSpPr>
        <p:spPr>
          <a:xfrm>
            <a:off x="7909560" y="2834640"/>
            <a:ext cx="32918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architectural decisions are written down with their reasoning — including the ones we got wrong, and one we had to publicly reverse after re-checking it.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dataset that looked ideal and turned out unusable. A merge that made the model worse. A metric that hid a failure for an hour.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of it is in the repository.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70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-2377440"/>
            <a:ext cx="6858000" cy="6858000"/>
          </a:xfrm>
          <a:prstGeom prst="ellipse">
            <a:avLst/>
          </a:prstGeom>
          <a:solidFill>
            <a:srgbClr val="6366F1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955280" y="3017520"/>
            <a:ext cx="6400800" cy="6400800"/>
          </a:xfrm>
          <a:prstGeom prst="ellipse">
            <a:avLst/>
          </a:prstGeom>
          <a:solidFill>
            <a:srgbClr val="22D3EE">
              <a:alpha val="9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85800" y="5669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TEAM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896112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people, one build.</a:t>
            </a:r>
            <a:endParaRPr lang="en-US" sz="3800" dirty="0"/>
          </a:p>
        </p:txBody>
      </p:sp>
      <p:sp>
        <p:nvSpPr>
          <p:cNvPr id="6" name="Shape 4"/>
          <p:cNvSpPr/>
          <p:nvPr/>
        </p:nvSpPr>
        <p:spPr>
          <a:xfrm>
            <a:off x="685800" y="2286000"/>
            <a:ext cx="3337560" cy="3246120"/>
          </a:xfrm>
          <a:prstGeom prst="roundRect">
            <a:avLst>
              <a:gd name="adj" fmla="val 3380"/>
            </a:avLst>
          </a:prstGeom>
          <a:solidFill>
            <a:srgbClr val="111A2E">
              <a:alpha val="82000"/>
            </a:srgbClr>
          </a:solidFill>
          <a:ln w="12700">
            <a:solidFill>
              <a:srgbClr val="1E2B4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764792" y="2578608"/>
            <a:ext cx="1188720" cy="1188720"/>
          </a:xfrm>
          <a:prstGeom prst="ellipse">
            <a:avLst/>
          </a:prstGeom>
          <a:solidFill>
            <a:srgbClr val="22D3EE">
              <a:alpha val="18000"/>
            </a:srgbClr>
          </a:solidFill>
          <a:ln w="19050">
            <a:solidFill>
              <a:srgbClr val="22D3E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764792" y="3054096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spc="14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3950208"/>
            <a:ext cx="2880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Ayaan Aatif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914400" y="429768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Lead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914400" y="4626864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Architecture, ML pipeline, demo delivery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343400" y="2286000"/>
            <a:ext cx="3337560" cy="3246120"/>
          </a:xfrm>
          <a:prstGeom prst="roundRect">
            <a:avLst>
              <a:gd name="adj" fmla="val 3380"/>
            </a:avLst>
          </a:prstGeom>
          <a:solidFill>
            <a:srgbClr val="111A2E">
              <a:alpha val="82000"/>
            </a:srgbClr>
          </a:solidFill>
          <a:ln w="12700">
            <a:solidFill>
              <a:srgbClr val="1E2B4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422392" y="2578608"/>
            <a:ext cx="1188720" cy="1188720"/>
          </a:xfrm>
          <a:prstGeom prst="ellipse">
            <a:avLst/>
          </a:prstGeom>
          <a:solidFill>
            <a:srgbClr val="6366F1">
              <a:alpha val="18000"/>
            </a:srgbClr>
          </a:solidFill>
          <a:ln w="19050">
            <a:solidFill>
              <a:srgbClr val="6366F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22392" y="3054096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spc="140" kern="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</a:t>
            </a: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4572000" y="3950208"/>
            <a:ext cx="2880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Muhammad Muneeb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0" y="429768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Backend, Data &amp; API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4572000" y="4626864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Services, database and the upload pipeline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8001000" y="2286000"/>
            <a:ext cx="3337560" cy="3246120"/>
          </a:xfrm>
          <a:prstGeom prst="roundRect">
            <a:avLst>
              <a:gd name="adj" fmla="val 3380"/>
            </a:avLst>
          </a:prstGeom>
          <a:solidFill>
            <a:srgbClr val="111A2E">
              <a:alpha val="82000"/>
            </a:srgbClr>
          </a:solidFill>
          <a:ln w="12700">
            <a:solidFill>
              <a:srgbClr val="1E2B4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3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9079992" y="2578608"/>
            <a:ext cx="1188720" cy="1188720"/>
          </a:xfrm>
          <a:prstGeom prst="ellipse">
            <a:avLst/>
          </a:prstGeom>
          <a:solidFill>
            <a:srgbClr val="A78BFA">
              <a:alpha val="18000"/>
            </a:srgbClr>
          </a:solidFill>
          <a:ln w="19050">
            <a:solidFill>
              <a:srgbClr val="A78BF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079992" y="3054096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spc="14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</a:t>
            </a:r>
            <a:endParaRPr lang="en-US" sz="950" dirty="0"/>
          </a:p>
        </p:txBody>
      </p:sp>
      <p:sp>
        <p:nvSpPr>
          <p:cNvPr id="21" name="Text 19"/>
          <p:cNvSpPr txBox="1"/>
          <p:nvPr/>
        </p:nvSpPr>
        <p:spPr>
          <a:xfrm>
            <a:off x="8229600" y="3950208"/>
            <a:ext cx="2880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Inshrah Mehmood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8229600" y="429768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&amp; Outreach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8229600" y="4626864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Positioning, launch material and the pitch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685800" y="580644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Add contact email · GitHub · LinkedIn ]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70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-2377440"/>
            <a:ext cx="6858000" cy="6858000"/>
          </a:xfrm>
          <a:prstGeom prst="ellipse">
            <a:avLst/>
          </a:prstGeom>
          <a:solidFill>
            <a:srgbClr val="6366F1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955280" y="3017520"/>
            <a:ext cx="6400800" cy="6400800"/>
          </a:xfrm>
          <a:prstGeom prst="ellipse">
            <a:avLst/>
          </a:prstGeom>
          <a:solidFill>
            <a:srgbClr val="22D3EE">
              <a:alpha val="9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85800" y="5669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COMES NEXT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896112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honest roadmap.</a:t>
            </a:r>
            <a:endParaRPr lang="en-US" sz="3800" dirty="0"/>
          </a:p>
        </p:txBody>
      </p:sp>
      <p:sp>
        <p:nvSpPr>
          <p:cNvPr id="6" name="Shape 4"/>
          <p:cNvSpPr/>
          <p:nvPr/>
        </p:nvSpPr>
        <p:spPr>
          <a:xfrm>
            <a:off x="685800" y="2286000"/>
            <a:ext cx="3337560" cy="2926080"/>
          </a:xfrm>
          <a:prstGeom prst="roundRect">
            <a:avLst>
              <a:gd name="adj" fmla="val 3750"/>
            </a:avLst>
          </a:prstGeom>
          <a:solidFill>
            <a:srgbClr val="111A2E">
              <a:alpha val="82000"/>
            </a:srgbClr>
          </a:solidFill>
          <a:ln w="12700">
            <a:solidFill>
              <a:srgbClr val="1E2B4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960120" y="250545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SHIPPED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960120" y="2999232"/>
            <a:ext cx="91440" cy="9144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179576" y="2926080"/>
            <a:ext cx="2651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Crack detection, measured on unseen data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960120" y="3712464"/>
            <a:ext cx="91440" cy="9144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179576" y="3639312"/>
            <a:ext cx="2651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 scoring and PDF reports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960120" y="4425696"/>
            <a:ext cx="91440" cy="9144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179576" y="4352544"/>
            <a:ext cx="2651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Dashboard, 3D viewer, auth, Docker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343400" y="2286000"/>
            <a:ext cx="3337560" cy="2926080"/>
          </a:xfrm>
          <a:prstGeom prst="roundRect">
            <a:avLst>
              <a:gd name="adj" fmla="val 3750"/>
            </a:avLst>
          </a:prstGeom>
          <a:solidFill>
            <a:srgbClr val="111A2E">
              <a:alpha val="82000"/>
            </a:srgbClr>
          </a:solidFill>
          <a:ln w="12700">
            <a:solidFill>
              <a:srgbClr val="1E2B4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35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4617720" y="250545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617720" y="2999232"/>
            <a:ext cx="91440" cy="91440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837176" y="2926080"/>
            <a:ext cx="2651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Varied training data to close the 63/81 gap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617720" y="3712464"/>
            <a:ext cx="91440" cy="91440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4837176" y="3639312"/>
            <a:ext cx="2651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defect classes — corrosion, spalling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617720" y="4425696"/>
            <a:ext cx="91440" cy="91440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4837176" y="4352544"/>
            <a:ext cx="2651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Cross-frame tracking so video counts are real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8001000" y="2286000"/>
            <a:ext cx="3337560" cy="2926080"/>
          </a:xfrm>
          <a:prstGeom prst="roundRect">
            <a:avLst>
              <a:gd name="adj" fmla="val 3750"/>
            </a:avLst>
          </a:prstGeom>
          <a:solidFill>
            <a:srgbClr val="111A2E">
              <a:alpha val="82000"/>
            </a:srgbClr>
          </a:solidFill>
          <a:ln w="12700">
            <a:solidFill>
              <a:srgbClr val="1E2B4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35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8275320" y="250545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LATER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8275320" y="2999232"/>
            <a:ext cx="91440" cy="91440"/>
          </a:xfrm>
          <a:prstGeom prst="ellipse">
            <a:avLst/>
          </a:prstGeom>
          <a:solidFill>
            <a:srgbClr val="64748B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8494776" y="2926080"/>
            <a:ext cx="2651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Photogrammetric twin from the imagery itself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8275320" y="3712464"/>
            <a:ext cx="91440" cy="91440"/>
          </a:xfrm>
          <a:prstGeom prst="ellipse">
            <a:avLst/>
          </a:prstGeom>
          <a:solidFill>
            <a:srgbClr val="64748B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8494776" y="3639312"/>
            <a:ext cx="2651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maintenance once trend data exists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8275320" y="4425696"/>
            <a:ext cx="91440" cy="91440"/>
          </a:xfrm>
          <a:prstGeom prst="ellipse">
            <a:avLst/>
          </a:prstGeom>
          <a:solidFill>
            <a:srgbClr val="64748B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8494776" y="4352544"/>
            <a:ext cx="2651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drone and robot integration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685800" y="548640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maintenance needs longitudinal data that does not exist yet. We are not going to pretend otherwise.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70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508760" y="-2011680"/>
            <a:ext cx="9144000" cy="9144000"/>
          </a:xfrm>
          <a:prstGeom prst="ellipse">
            <a:avLst/>
          </a:prstGeom>
          <a:solidFill>
            <a:srgbClr val="6366F1">
              <a:alpha val="12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85800" y="214884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does not replace an engineer.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3063240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20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does the first pass, so the engineer spends their time on judgement</a:t>
            </a:r>
            <a:endParaRPr lang="en-US" sz="20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20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instead of data collection — and it tells you exactly how much to trust it.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470916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TwinVerse Inspect AI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516636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Ayaan Aatif  ·  Muhammad Muneeb  ·  Inshrah Mehmood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557784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Add repository link · contact email ]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TwinVerse Inspect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TwinVerse Inspect AI</dc:title>
  <dc:subject>PptxGenJS Presentation</dc:subject>
  <dc:creator>Ayaan Aatif</dc:creator>
  <cp:lastModifiedBy>Ayaan Aatif</cp:lastModifiedBy>
  <cp:revision>1</cp:revision>
  <dcterms:created xsi:type="dcterms:W3CDTF">2026-09-10T19:28:47Z</dcterms:created>
  <dcterms:modified xsi:type="dcterms:W3CDTF">2026-09-10T19:28:47Z</dcterms:modified>
</cp:coreProperties>
</file>